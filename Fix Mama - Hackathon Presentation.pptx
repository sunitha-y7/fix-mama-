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eb6f86c7-a07a-4f3d-a39a-3f860c7d6105.fntdata" /><ns0:Relationship Id="rIdFont16" Type="http://schemas.openxmlformats.org/officeDocument/2006/relationships/font" Target="fonts/0bdb3bfe-69f7-4ae1-be6e-66b56e4aeb8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105400" y="1800225"/>
            <a:ext cx="1981200" cy="342900"/>
          </a:xfrm>
          <a:prstGeom prst="roundRect">
            <a:avLst>
              <a:gd name="adj" fmla="val 50000"/>
            </a:avLst>
          </a:prstGeom>
          <a:solidFill>
            <a:srgbClr val="0B223C"/>
          </a:solidFill>
          <a:ln w="9525">
            <a:solidFill>
              <a:srgbClr val="0C3F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100387" y="4638675"/>
            <a:ext cx="1247775" cy="419100"/>
          </a:xfrm>
          <a:prstGeom prst="roundRect">
            <a:avLst>
              <a:gd name="adj" fmla="val 27272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00562" y="4638675"/>
            <a:ext cx="1219200" cy="419100"/>
          </a:xfrm>
          <a:prstGeom prst="roundRect">
            <a:avLst>
              <a:gd name="adj" fmla="val 27272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872162" y="4638675"/>
            <a:ext cx="1704975" cy="419100"/>
          </a:xfrm>
          <a:prstGeom prst="roundRect">
            <a:avLst>
              <a:gd name="adj" fmla="val 27272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29537" y="4638675"/>
            <a:ext cx="1362075" cy="419100"/>
          </a:xfrm>
          <a:prstGeom prst="roundRect">
            <a:avLst>
              <a:gd name="adj" fmla="val 27272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425" y="1905000"/>
            <a:ext cx="133350" cy="133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412" y="4762500"/>
            <a:ext cx="1905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587" y="4762500"/>
            <a:ext cx="15240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87" y="4762500"/>
            <a:ext cx="133350" cy="1714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9562" y="4762500"/>
            <a:ext cx="133350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833217" y="2371725"/>
            <a:ext cx="4525565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FFFFF"/>
                </a:solidFill>
                <a:latin typeface="Plus Jakarta Sans"/>
              </a:rPr>
              <a:t>Fix Mama </a:t>
            </a:r>
            <a:r>
              <a:rPr b="1" sz="3900" i="0" u="none">
                <a:solidFill>
                  <a:srgbClr val="FFFFFF"/>
                </a:solidFill>
                <a:latin typeface="Plus Jakarta Sans"/>
              </a:rPr>
              <a:t>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8968" y="3286125"/>
            <a:ext cx="583406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38BDF8"/>
                </a:solidFill>
                <a:latin typeface="Plus Jakarta Sans"/>
              </a:rPr>
              <a:t>“Your voice. Your complaint. Your community.”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26468" y="3743325"/>
            <a:ext cx="7739062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Accessible multilingual civic complaint assistant that makes reporting public problems simpler through a guided, photo-first workflow.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3525" y="1885950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Hack Devengers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3287" y="4762500"/>
            <a:ext cx="8477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Potholes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5362" y="4762500"/>
            <a:ext cx="857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Garbage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7912" y="4762500"/>
            <a:ext cx="13620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Drainage &amp; Leaks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5287" y="4762500"/>
            <a:ext cx="10191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CBD5E1"/>
                </a:solidFill>
                <a:latin typeface="Plus Jakarta Sans"/>
              </a:rPr>
              <a:t>Streetlights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86500" y="2847975"/>
            <a:ext cx="5295900" cy="2152650"/>
          </a:xfrm>
          <a:prstGeom prst="roundRect">
            <a:avLst>
              <a:gd name="adj" fmla="val 884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700337"/>
            <a:ext cx="5295900" cy="714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3567112"/>
            <a:ext cx="5295900" cy="714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4433887"/>
            <a:ext cx="5295900" cy="71437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700337"/>
            <a:ext cx="38100" cy="7143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3567112"/>
            <a:ext cx="38100" cy="7143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4433887"/>
            <a:ext cx="38100" cy="7143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53262" y="3190875"/>
            <a:ext cx="847725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62937" y="3190875"/>
            <a:ext cx="781050" cy="3619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405937" y="3190875"/>
            <a:ext cx="1409700" cy="361950"/>
          </a:xfrm>
          <a:prstGeom prst="roundRect">
            <a:avLst>
              <a:gd name="adj" fmla="val 21052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29400" y="3781425"/>
            <a:ext cx="146045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04150" y="3781425"/>
            <a:ext cx="146045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78900" y="3781425"/>
            <a:ext cx="146045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29400" y="4276725"/>
            <a:ext cx="146045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04150" y="4276725"/>
            <a:ext cx="146045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78900" y="4276725"/>
            <a:ext cx="146045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5287" y="3295650"/>
            <a:ext cx="133350" cy="1524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8287" y="3295650"/>
            <a:ext cx="133350" cy="152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7715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“Reporting a civic problem shouldn't be complicated.”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852737"/>
            <a:ext cx="6400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Complicated complaint forms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3090862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Too many unnecessary fields and bureaucratic steps.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3719512"/>
            <a:ext cx="6400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Too much typing &amp; language barriers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3957637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Excludes citizens who prefer native languages or voice input.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4586287"/>
            <a:ext cx="6400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Accessibility 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4824412"/>
            <a:ext cx="6096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Conventional interfaces are difficult for everyone to navigate.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2787" y="3286125"/>
            <a:ext cx="8286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Plus Jakarta Sans"/>
              </a:rP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2462" y="3286125"/>
            <a:ext cx="7620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E293B"/>
                </a:solidFill>
                <a:latin typeface="Plus Jakarta Sans"/>
              </a:rPr>
              <a:t>Friction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82125" y="3286125"/>
            <a:ext cx="14573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991B1B"/>
                </a:solidFill>
                <a:latin typeface="Plus Jakarta Sans"/>
              </a:rPr>
              <a:t>Unreported 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1143" y="3895725"/>
            <a:ext cx="15969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34155"/>
                </a:solidFill>
                <a:latin typeface="Plus Jakarta Sans"/>
              </a:rPr>
              <a:t>🛣️ Potholes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5894" y="3895725"/>
            <a:ext cx="15969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34155"/>
                </a:solidFill>
                <a:latin typeface="Plus Jakarta Sans"/>
              </a:rPr>
              <a:t>🗑️ Garbage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644" y="3895725"/>
            <a:ext cx="15969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34155"/>
                </a:solidFill>
                <a:latin typeface="Plus Jakarta Sans"/>
              </a:rPr>
              <a:t>💧 Water Leak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61143" y="4391025"/>
            <a:ext cx="15969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34155"/>
                </a:solidFill>
                <a:latin typeface="Plus Jakarta Sans"/>
              </a:rPr>
              <a:t>💡 Streetlights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5894" y="4391025"/>
            <a:ext cx="15969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34155"/>
                </a:solidFill>
                <a:latin typeface="Plus Jakarta Sans"/>
              </a:rPr>
              <a:t>🚧 Obstructions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10644" y="4391025"/>
            <a:ext cx="1596962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34155"/>
                </a:solidFill>
                <a:latin typeface="Plus Jakarta Sans"/>
              </a:rPr>
              <a:t>🚰 Drainage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639300" y="885825"/>
            <a:ext cx="1943100" cy="342900"/>
          </a:xfrm>
          <a:prstGeom prst="roundRect">
            <a:avLst>
              <a:gd name="adj" fmla="val 22222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00337"/>
            <a:ext cx="5777210" cy="23812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67810" y="2862262"/>
            <a:ext cx="4814589" cy="2057400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301466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23925" y="366236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3925" y="4310062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3705225" cy="695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91700" y="962025"/>
            <a:ext cx="17335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Fast, Simple &amp; Accessible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71525"/>
            <a:ext cx="4738092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“Meet Fix Mama 😎”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0605" y="3205162"/>
            <a:ext cx="3429000" cy="514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3150" i="0" u="none">
                <a:solidFill>
                  <a:srgbClr val="FFFFFF"/>
                </a:solidFill>
                <a:latin typeface="Plus Jakarta Sans"/>
              </a:rPr>
              <a:t>📸 ➡️ 📍 ➡️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4867" y="3833812"/>
            <a:ext cx="38004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FFFFFF"/>
                </a:solidFill>
                <a:latin typeface="Plus Jakarta Sans"/>
              </a:rPr>
              <a:t>Guided Complaint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4611" y="4176712"/>
            <a:ext cx="51609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94A3B8"/>
                </a:solidFill>
                <a:latin typeface="Plus Jakarta Sans"/>
              </a:rPr>
              <a:t>Photo → Select Problem → Add Context → Location → Review → Send. Built for every citizen.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30146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36623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4310062"/>
            <a:ext cx="7429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33525" y="3067050"/>
            <a:ext cx="26753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Photo-First Reporting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3525" y="3267075"/>
            <a:ext cx="2547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Snap a picture of the issue instantly.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3525" y="3714750"/>
            <a:ext cx="421302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Trilingual &amp; Voice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3525" y="3914775"/>
            <a:ext cx="40124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Available in Telugu, English &amp; Hindi with Text-to-Speech.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3525" y="4362450"/>
            <a:ext cx="42880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Location &amp; Context Guidance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3525" y="4562475"/>
            <a:ext cx="408384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Auto-detects GPS and categorizes nearby public spots.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447800"/>
            <a:ext cx="1469528" cy="4876800"/>
          </a:xfrm>
          <a:prstGeom prst="roundRect">
            <a:avLst>
              <a:gd name="adj" fmla="val 77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3428" y="1447800"/>
            <a:ext cx="1469528" cy="4876800"/>
          </a:xfrm>
          <a:prstGeom prst="roundRect">
            <a:avLst>
              <a:gd name="adj" fmla="val 77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77257" y="1447800"/>
            <a:ext cx="1469528" cy="4876800"/>
          </a:xfrm>
          <a:prstGeom prst="roundRect">
            <a:avLst>
              <a:gd name="adj" fmla="val 77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61086" y="1447800"/>
            <a:ext cx="1469677" cy="4876800"/>
          </a:xfrm>
          <a:prstGeom prst="roundRect">
            <a:avLst>
              <a:gd name="adj" fmla="val 77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945064" y="1447800"/>
            <a:ext cx="1469528" cy="4876800"/>
          </a:xfrm>
          <a:prstGeom prst="roundRect">
            <a:avLst>
              <a:gd name="adj" fmla="val 77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28893" y="1447800"/>
            <a:ext cx="1469528" cy="4876800"/>
          </a:xfrm>
          <a:prstGeom prst="roundRect">
            <a:avLst>
              <a:gd name="adj" fmla="val 777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112722" y="1447800"/>
            <a:ext cx="1469677" cy="4876800"/>
          </a:xfrm>
          <a:prstGeom prst="roundRect">
            <a:avLst>
              <a:gd name="adj" fmla="val 77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01" y="3767137"/>
            <a:ext cx="16192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4843" y="3767137"/>
            <a:ext cx="26670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247" y="376713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076" y="3767137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341" y="3767137"/>
            <a:ext cx="180975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2695" y="3767137"/>
            <a:ext cx="1619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711" y="3767137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715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“From problem to complaint in a few simple steps”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4814" y="3548062"/>
            <a:ext cx="41910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00" y="4071937"/>
            <a:ext cx="103012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Login + OTP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9118" y="3548062"/>
            <a:ext cx="438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53108" y="4071937"/>
            <a:ext cx="13501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Select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2947" y="3548062"/>
            <a:ext cx="438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1946" y="4071937"/>
            <a:ext cx="122015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Capture Photo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2013" y="3548062"/>
            <a:ext cx="4476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0773" y="4071937"/>
            <a:ext cx="12501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Select Problem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0753" y="3548062"/>
            <a:ext cx="438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29760" y="4071937"/>
            <a:ext cx="11001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Add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4582" y="3548062"/>
            <a:ext cx="438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8570" y="4071937"/>
            <a:ext cx="139017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Location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28411" y="3548062"/>
            <a:ext cx="438150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00" i="0" u="none">
                <a:solidFill>
                  <a:srgbClr val="0F172A"/>
                </a:solidFill>
                <a:latin typeface="Plus Jakarta Sans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32409" y="4071937"/>
            <a:ext cx="123015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F172A"/>
                </a:solidFill>
                <a:latin typeface="Plus Jakarta Sans"/>
              </a:rPr>
              <a:t>Review &amp; Send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24000"/>
            <a:ext cx="3505200" cy="480060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1524000"/>
            <a:ext cx="3505200" cy="480060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1524000"/>
            <a:ext cx="3505200" cy="4800600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1800225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1800225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180022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175" y="1933575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162" y="1933575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6775" y="1933575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Accessibility &amp; Innovation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715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“Designed for people, not complicated forms.”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5895975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Telugu • English • Hindi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5895975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D97706"/>
                </a:solidFill>
                <a:latin typeface="Plus Jakarta Sans"/>
              </a:rPr>
              <a:t>Audio Assistance Enabled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5895975"/>
            <a:ext cx="36909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Plus Jakarta Sans"/>
              </a:rPr>
              <a:t>Visual + GPS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24479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Multilingual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825" y="274320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Fully localized experience available in Telugu, English, and Hindi.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9625" y="24479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Voice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9625" y="274320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Speaker-enabled options using text-to-speech for seamless accessibility.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244792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Photo First &amp; Context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2743200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Visual communication paired with location and contextual public tags.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026300" y="2652712"/>
            <a:ext cx="3556099" cy="2466975"/>
          </a:xfrm>
          <a:prstGeom prst="roundRect">
            <a:avLst>
              <a:gd name="adj" fmla="val 617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14662"/>
            <a:ext cx="2294334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018234" y="3014662"/>
            <a:ext cx="2294483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27017" y="3014662"/>
            <a:ext cx="2294483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3633787"/>
            <a:ext cx="2294334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18234" y="3633787"/>
            <a:ext cx="2294483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27017" y="3633787"/>
            <a:ext cx="2294483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600" y="4252912"/>
            <a:ext cx="2294334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18234" y="4252912"/>
            <a:ext cx="2294483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27017" y="4252912"/>
            <a:ext cx="2294483" cy="504825"/>
          </a:xfrm>
          <a:prstGeom prst="roundRect">
            <a:avLst>
              <a:gd name="adj" fmla="val 1886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54900" y="3233737"/>
            <a:ext cx="3098899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54900" y="3671887"/>
            <a:ext cx="3098899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54900" y="4110037"/>
            <a:ext cx="3098899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54900" y="4548187"/>
            <a:ext cx="3098899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715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“Choose the problem. Fix Mama guides the rest.”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4900" y="2881312"/>
            <a:ext cx="39370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Nearby Context Options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3157537"/>
            <a:ext cx="495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🛣️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275" y="3190875"/>
            <a:ext cx="1162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Road / Pothole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1109" y="3157537"/>
            <a:ext cx="495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909" y="3190875"/>
            <a:ext cx="144065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Drainage / Sewage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9892" y="3157537"/>
            <a:ext cx="495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🗑️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4692" y="3190875"/>
            <a:ext cx="13144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Garbage / Waste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3776662"/>
            <a:ext cx="495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7275" y="3810000"/>
            <a:ext cx="9239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Streetlight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1109" y="3776662"/>
            <a:ext cx="495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909" y="3810000"/>
            <a:ext cx="11906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Water Leakage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9892" y="3776662"/>
            <a:ext cx="495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4692" y="3810000"/>
            <a:ext cx="13620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Road Obstruction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2475" y="4395787"/>
            <a:ext cx="495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275" y="4429125"/>
            <a:ext cx="146446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Fallen Tree / Branch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61109" y="4395787"/>
            <a:ext cx="495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5909" y="4429125"/>
            <a:ext cx="10572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Traffic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69892" y="4395787"/>
            <a:ext cx="495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293B"/>
                </a:solidFill>
                <a:latin typeface="Plus Jakarta Sans"/>
              </a:rPr>
              <a:t>🏗️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74692" y="4429125"/>
            <a:ext cx="12001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Damaged Infra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8250" y="3328987"/>
            <a:ext cx="29274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🏥 Near Hospital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8250" y="3767137"/>
            <a:ext cx="29274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🏫 Near School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8250" y="4205287"/>
            <a:ext cx="29274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🚉 Near Railway / Bus Stand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88250" y="4643437"/>
            <a:ext cx="292744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Plus Jakarta Sans"/>
              </a:rPr>
              <a:t>👥 Crowded Footfall Area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5295900" cy="1666875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2957512"/>
            <a:ext cx="5295900" cy="1933575"/>
          </a:xfrm>
          <a:prstGeom prst="roundRect">
            <a:avLst>
              <a:gd name="adj" fmla="val 985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85825" y="3738562"/>
            <a:ext cx="828675" cy="323850"/>
          </a:xfrm>
          <a:prstGeom prst="roundRect">
            <a:avLst>
              <a:gd name="adj" fmla="val 2352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09750" y="3738562"/>
            <a:ext cx="962025" cy="323850"/>
          </a:xfrm>
          <a:prstGeom prst="roundRect">
            <a:avLst>
              <a:gd name="adj" fmla="val 23529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67025" y="3738562"/>
            <a:ext cx="1247775" cy="323850"/>
          </a:xfrm>
          <a:prstGeom prst="roundRect">
            <a:avLst>
              <a:gd name="adj" fmla="val 23529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5825" y="4157662"/>
            <a:ext cx="1895475" cy="323850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76550" y="4157662"/>
            <a:ext cx="1362075" cy="323850"/>
          </a:xfrm>
          <a:prstGeom prst="roundRect">
            <a:avLst>
              <a:gd name="adj" fmla="val 23529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33875" y="4157662"/>
            <a:ext cx="752475" cy="323850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3605212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3890962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176712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4462462"/>
            <a:ext cx="13335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0680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Plus Jakarta Sans"/>
              </a:rPr>
              <a:t>Architecture &amp;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71525"/>
            <a:ext cx="11582400" cy="4476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0F172A"/>
                </a:solidFill>
                <a:latin typeface="Plus Jakarta Sans"/>
              </a:rPr>
              <a:t>“Simple technology. Meaningful civic impact.”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3367087"/>
            <a:ext cx="622577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Technology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224212"/>
            <a:ext cx="56388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Plus Jakarta Sans"/>
              </a:rPr>
              <a:t>Meaningful Civic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225" y="3814762"/>
            <a:ext cx="6191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369A1"/>
                </a:solidFill>
                <a:latin typeface="Plus Jakarta Sans"/>
              </a:rPr>
              <a:t>React.js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2150" y="3814762"/>
            <a:ext cx="75247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2400E"/>
                </a:solidFill>
                <a:latin typeface="Plus Jakarta Sans"/>
              </a:rPr>
              <a:t>JavaScript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9425" y="3814762"/>
            <a:ext cx="10382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A3412"/>
                </a:solidFill>
                <a:latin typeface="Plus Jakarta Sans"/>
              </a:rPr>
              <a:t>HTML5 &amp; CSS3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225" y="4233862"/>
            <a:ext cx="1685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6534"/>
                </a:solidFill>
                <a:latin typeface="Plus Jakarta Sans"/>
              </a:rPr>
              <a:t>Browser Geolocation 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8950" y="4233862"/>
            <a:ext cx="1152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B21A8"/>
                </a:solidFill>
                <a:latin typeface="Plus Jakarta Sans"/>
              </a:rPr>
              <a:t>Web Speech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6275" y="4233862"/>
            <a:ext cx="5429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Plus Jakarta Sans"/>
              </a:rPr>
              <a:t>GitHub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1800" y="3595687"/>
            <a:ext cx="313134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Reduces dependence on lengthy typing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1800" y="3881437"/>
            <a:ext cx="3571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Makes civic reporting accessible for everyone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1800" y="4167187"/>
            <a:ext cx="28932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Supports multiple regional languages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1800" y="4452937"/>
            <a:ext cx="359568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Plus Jakarta Sans"/>
              </a:rPr>
              <a:t>Creates a guided, frustration-free experience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09750" y="2409825"/>
            <a:ext cx="2730400" cy="942975"/>
          </a:xfrm>
          <a:prstGeom prst="roundRect">
            <a:avLst>
              <a:gd name="adj" fmla="val 12121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30650" y="2409825"/>
            <a:ext cx="2730549" cy="942975"/>
          </a:xfrm>
          <a:prstGeom prst="roundRect">
            <a:avLst>
              <a:gd name="adj" fmla="val 12121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51700" y="2409825"/>
            <a:ext cx="2730400" cy="942975"/>
          </a:xfrm>
          <a:prstGeom prst="roundRect">
            <a:avLst>
              <a:gd name="adj" fmla="val 12121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176837" y="56197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90625" y="533400"/>
            <a:ext cx="9810750" cy="619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38BDF8"/>
                </a:solidFill>
                <a:latin typeface="Plus Jakarta Sans"/>
              </a:rPr>
              <a:t>Future Scope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5356" y="771525"/>
            <a:ext cx="10301287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400" i="0" u="none">
                <a:solidFill>
                  <a:srgbClr val="FFFFFF"/>
                </a:solidFill>
                <a:latin typeface="Plus Jakarta Sans"/>
              </a:rPr>
              <a:t>“A simpler way to speak up about our surroundings.”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58307" y="4610100"/>
            <a:ext cx="3075384" cy="5048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150" i="0" u="none">
                <a:solidFill>
                  <a:srgbClr val="FFFFFF"/>
                </a:solidFill>
                <a:latin typeface="Plus Jakarta Sans"/>
              </a:rPr>
              <a:t>Fix Mama </a:t>
            </a:r>
            <a:r>
              <a:rPr b="1" sz="2700" i="0" u="none">
                <a:solidFill>
                  <a:srgbClr val="FFFFFF"/>
                </a:solidFill>
                <a:latin typeface="Plus Jakarta Sans"/>
              </a:rPr>
              <a:t>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9562" y="5229225"/>
            <a:ext cx="3952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Plus Jakarta Sans"/>
              </a:rPr>
              <a:t>Your voice. Your complaint. Your community.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10225" y="6153150"/>
            <a:ext cx="9715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09775" y="2609850"/>
            <a:ext cx="305858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History &amp;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9775" y="2847975"/>
            <a:ext cx="2912938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Complaint status tracking &amp; history log.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0675" y="2609850"/>
            <a:ext cx="305878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Admin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0675" y="2847975"/>
            <a:ext cx="2425749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Secure backend, database &amp; grievance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51725" y="2609850"/>
            <a:ext cx="305858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8BDF8"/>
                </a:solidFill>
                <a:latin typeface="Plus Jakarta Sans"/>
              </a:rPr>
              <a:t>Authorized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1725" y="2847975"/>
            <a:ext cx="24256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94A3B8"/>
                </a:solidFill>
                <a:latin typeface="Plus Jakarta Sans"/>
              </a:rPr>
              <a:t>Direct connection with municipal authorities.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3962" y="5619750"/>
            <a:ext cx="6667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0" sz="1350" i="0" u="none">
                <a:solidFill>
                  <a:srgbClr val="0F172A"/>
                </a:solidFill>
                <a:latin typeface="Plus Jakarta Sans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259" y="5734050"/>
            <a:ext cx="16787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CBD5E1"/>
                </a:solidFill>
                <a:latin typeface="Plus Jakarta Sans"/>
              </a:rPr>
              <a:t>Project Demo /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